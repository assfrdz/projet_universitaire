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  <p:sldMasterId id="2147483655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Unbounded SemiBold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Actor"/>
      <p:regular r:id="rId25"/>
    </p:embeddedFont>
    <p:embeddedFont>
      <p:font typeface="Noto Sans Symbols"/>
      <p:regular r:id="rId26"/>
      <p:bold r:id="rId27"/>
    </p:embeddedFont>
    <p:embeddedFont>
      <p:font typeface="Unbounde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nboundedSemiBold-bold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NotoSansSymbols-regular.fntdata"/><Relationship Id="rId25" Type="http://schemas.openxmlformats.org/officeDocument/2006/relationships/font" Target="fonts/Actor-regular.fntdata"/><Relationship Id="rId28" Type="http://schemas.openxmlformats.org/officeDocument/2006/relationships/font" Target="fonts/Unbounded-regular.fntdata"/><Relationship Id="rId27" Type="http://schemas.openxmlformats.org/officeDocument/2006/relationships/font" Target="fonts/NotoSansSymbol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Unbounde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UnboundedSemiBold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880d5b610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880d5b610_2_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880d5b610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880d5b610_2_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880d5b61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880d5b61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80d5b610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880d5b610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80d5b61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880d5b610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8e0db1e8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8e0db1e85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8e92b06a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e8e92b06ac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8e92b06ac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8e92b06ac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880d5b61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880d5b610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880d5b610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880d5b610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880d5b610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880d5b610_2_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dk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8;p2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9" name="Google Shape;9;p2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10" name="Google Shape;10;p2"/>
              <p:cNvPicPr preferRelativeResize="0"/>
              <p:nvPr/>
            </p:nvPicPr>
            <p:blipFill rotWithShape="1">
              <a:blip r:embed="rId2">
                <a:alphaModFix/>
              </a:blip>
              <a:srcRect b="11928" l="0" r="83008" t="28154"/>
              <a:stretch/>
            </p:blipFill>
            <p:spPr>
              <a:xfrm>
                <a:off x="7021440" y="0"/>
                <a:ext cx="2122200" cy="39186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1;p2"/>
              <p:cNvPicPr preferRelativeResize="0"/>
              <p:nvPr/>
            </p:nvPicPr>
            <p:blipFill rotWithShape="1">
              <a:blip r:embed="rId3">
                <a:alphaModFix/>
              </a:blip>
              <a:srcRect b="54899" l="13257" r="52035" t="4640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" name="Google Shape;12;p2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13" name="Google Shape;13;p2"/>
              <p:cNvPicPr preferRelativeResize="0"/>
              <p:nvPr/>
            </p:nvPicPr>
            <p:blipFill rotWithShape="1">
              <a:blip r:embed="rId3">
                <a:alphaModFix/>
              </a:blip>
              <a:srcRect b="4983" l="31146" r="25575" t="56446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;p2"/>
              <p:cNvPicPr preferRelativeResize="0"/>
              <p:nvPr/>
            </p:nvPicPr>
            <p:blipFill rotWithShape="1">
              <a:blip r:embed="rId2">
                <a:alphaModFix/>
              </a:blip>
              <a:srcRect b="23718" l="4614" r="79209" t="2365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" name="Google Shape;15;p2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720000" y="1136880"/>
            <a:ext cx="7703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7" name="Google Shape;17;p2"/>
          <p:cNvGrpSpPr/>
          <p:nvPr/>
        </p:nvGrpSpPr>
        <p:grpSpPr>
          <a:xfrm>
            <a:off x="-1946327" y="-570240"/>
            <a:ext cx="10978399" cy="5713054"/>
            <a:chOff x="-1946327" y="-570240"/>
            <a:chExt cx="10978399" cy="5713054"/>
          </a:xfrm>
        </p:grpSpPr>
        <p:sp>
          <p:nvSpPr>
            <p:cNvPr id="18" name="Google Shape;18;p2"/>
            <p:cNvSpPr/>
            <p:nvPr/>
          </p:nvSpPr>
          <p:spPr>
            <a:xfrm rot="5400000">
              <a:off x="-1946531" y="2713703"/>
              <a:ext cx="2429314" cy="2428907"/>
            </a:xfrm>
            <a:custGeom>
              <a:rect b="b" l="l" r="r" t="t"/>
              <a:pathLst>
                <a:path extrusionOk="0" h="97166" w="97192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86120" y="-570240"/>
              <a:ext cx="745952" cy="1305678"/>
            </a:xfrm>
            <a:custGeom>
              <a:rect b="b" l="l" r="r" t="t"/>
              <a:pathLst>
                <a:path extrusionOk="0" h="52248" w="29856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481600" y="4321440"/>
              <a:ext cx="550403" cy="564439"/>
            </a:xfrm>
            <a:custGeom>
              <a:rect b="b" l="l" r="r" t="t"/>
              <a:pathLst>
                <a:path extrusionOk="0" h="44235" w="431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640" cy="514331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type="title"/>
          </p:nvPr>
        </p:nvSpPr>
        <p:spPr>
          <a:xfrm>
            <a:off x="1224720" y="539640"/>
            <a:ext cx="66945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3"/>
          <p:cNvSpPr/>
          <p:nvPr/>
        </p:nvSpPr>
        <p:spPr>
          <a:xfrm>
            <a:off x="2099160" y="3611880"/>
            <a:ext cx="49452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CREDITS:</a:t>
            </a:r>
            <a:r>
              <a:rPr b="0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 This presentation template was created by </a:t>
            </a:r>
            <a:r>
              <a:rPr b="1" lang="fr" sz="1200" u="sng" strike="noStrike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3"/>
              </a:rPr>
              <a:t>Slidesgo</a:t>
            </a:r>
            <a:r>
              <a:rPr b="0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, and includes icons by </a:t>
            </a:r>
            <a:r>
              <a:rPr b="1" lang="fr" sz="1200" u="sng" strike="noStrike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4"/>
              </a:rPr>
              <a:t>Flaticon</a:t>
            </a:r>
            <a:r>
              <a:rPr b="0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, and infographics &amp; images by </a:t>
            </a:r>
            <a:r>
              <a:rPr b="1" lang="fr" sz="1200" u="sng" strike="noStrike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5"/>
              </a:rPr>
              <a:t>Freepik</a:t>
            </a:r>
            <a:r>
              <a:rPr b="0" lang="fr" sz="1200" u="sng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-81720" y="-1889640"/>
            <a:ext cx="8787563" cy="6775878"/>
            <a:chOff x="-81720" y="-1889640"/>
            <a:chExt cx="8787563" cy="6775878"/>
          </a:xfrm>
        </p:grpSpPr>
        <p:sp>
          <p:nvSpPr>
            <p:cNvPr id="27" name="Google Shape;27;p3"/>
            <p:cNvSpPr/>
            <p:nvPr/>
          </p:nvSpPr>
          <p:spPr>
            <a:xfrm>
              <a:off x="-81720" y="-1889640"/>
              <a:ext cx="2429314" cy="2428907"/>
            </a:xfrm>
            <a:custGeom>
              <a:rect b="b" l="l" r="r" t="t"/>
              <a:pathLst>
                <a:path extrusionOk="0" h="97166" w="97192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41360" y="3580560"/>
              <a:ext cx="745952" cy="1305678"/>
            </a:xfrm>
            <a:custGeom>
              <a:rect b="b" l="l" r="r" t="t"/>
              <a:pathLst>
                <a:path extrusionOk="0" h="52248" w="29856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155440" y="381960"/>
              <a:ext cx="550403" cy="564439"/>
            </a:xfrm>
            <a:custGeom>
              <a:rect b="b" l="l" r="r" t="t"/>
              <a:pathLst>
                <a:path extrusionOk="0" h="44235" w="431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title">
  <p:cSld name="TITLE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640" cy="514331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title"/>
          </p:nvPr>
        </p:nvSpPr>
        <p:spPr>
          <a:xfrm>
            <a:off x="1224720" y="539640"/>
            <a:ext cx="66945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2099160" y="3611880"/>
            <a:ext cx="49452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CREDITS:</a:t>
            </a:r>
            <a:r>
              <a:rPr b="0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 This presentation template was created by </a:t>
            </a:r>
            <a:r>
              <a:rPr b="1" lang="fr" sz="1200" u="sng" strike="noStrike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3"/>
              </a:rPr>
              <a:t>Slidesgo</a:t>
            </a:r>
            <a:r>
              <a:rPr b="0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, and includes icons by </a:t>
            </a:r>
            <a:r>
              <a:rPr b="1" lang="fr" sz="1200" u="sng" strike="noStrike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4"/>
              </a:rPr>
              <a:t>Flaticon</a:t>
            </a:r>
            <a:r>
              <a:rPr b="0" lang="fr" sz="1200" u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, and infographics &amp; images by </a:t>
            </a:r>
            <a:r>
              <a:rPr b="1" lang="fr" sz="1200" u="sng" strike="noStrike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5"/>
              </a:rPr>
              <a:t>Freepik</a:t>
            </a:r>
            <a:r>
              <a:rPr b="0" lang="fr" sz="1200" u="sng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6" name="Google Shape;36;p4"/>
          <p:cNvGrpSpPr/>
          <p:nvPr/>
        </p:nvGrpSpPr>
        <p:grpSpPr>
          <a:xfrm>
            <a:off x="-81720" y="-1889640"/>
            <a:ext cx="8787563" cy="6775878"/>
            <a:chOff x="-81720" y="-1889640"/>
            <a:chExt cx="8787563" cy="6775878"/>
          </a:xfrm>
        </p:grpSpPr>
        <p:sp>
          <p:nvSpPr>
            <p:cNvPr id="37" name="Google Shape;37;p4"/>
            <p:cNvSpPr/>
            <p:nvPr/>
          </p:nvSpPr>
          <p:spPr>
            <a:xfrm>
              <a:off x="-81720" y="-1889640"/>
              <a:ext cx="2429314" cy="2428907"/>
            </a:xfrm>
            <a:custGeom>
              <a:rect b="b" l="l" r="r" t="t"/>
              <a:pathLst>
                <a:path extrusionOk="0" h="97166" w="97192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41360" y="3580560"/>
              <a:ext cx="745952" cy="1305678"/>
            </a:xfrm>
            <a:custGeom>
              <a:rect b="b" l="l" r="r" t="t"/>
              <a:pathLst>
                <a:path extrusionOk="0" h="52248" w="29856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55440" y="381960"/>
              <a:ext cx="550403" cy="564439"/>
            </a:xfrm>
            <a:custGeom>
              <a:rect b="b" l="l" r="r" t="t"/>
              <a:pathLst>
                <a:path extrusionOk="0" h="44235" w="431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48" name="Google Shape;48;p6"/>
            <p:cNvPicPr preferRelativeResize="0"/>
            <p:nvPr/>
          </p:nvPicPr>
          <p:blipFill rotWithShape="1">
            <a:blip r:embed="rId1">
              <a:alphaModFix/>
            </a:blip>
            <a:srcRect b="13674" l="1389" r="75083" t="26408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6"/>
            <p:cNvPicPr preferRelativeResize="0"/>
            <p:nvPr/>
          </p:nvPicPr>
          <p:blipFill rotWithShape="1">
            <a:blip r:embed="rId2">
              <a:alphaModFix/>
            </a:blip>
            <a:srcRect b="4309" l="21159" r="32617" t="55236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" name="Google Shape;50;p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1" name="Google Shape;51;p6"/>
            <p:cNvPicPr preferRelativeResize="0"/>
            <p:nvPr/>
          </p:nvPicPr>
          <p:blipFill rotWithShape="1">
            <a:blip r:embed="rId2">
              <a:alphaModFix/>
            </a:blip>
            <a:srcRect b="51348" l="35370" r="21351" t="5164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6"/>
            <p:cNvPicPr preferRelativeResize="0"/>
            <p:nvPr/>
          </p:nvPicPr>
          <p:blipFill rotWithShape="1">
            <a:blip r:embed="rId1">
              <a:alphaModFix/>
            </a:blip>
            <a:srcRect b="13746" l="0" r="76117" t="21588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6"/>
          <p:cNvSpPr txBox="1"/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54" name="Google Shape;54;p6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55" name="Google Shape;55;p6"/>
            <p:cNvSpPr/>
            <p:nvPr/>
          </p:nvSpPr>
          <p:spPr>
            <a:xfrm>
              <a:off x="340200" y="4190760"/>
              <a:ext cx="745920" cy="1305720"/>
            </a:xfrm>
            <a:custGeom>
              <a:rect b="b" l="l" r="r" t="t"/>
              <a:pathLst>
                <a:path extrusionOk="0" h="52248" w="29856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7044480" y="-478800"/>
              <a:ext cx="1021320" cy="1018080"/>
            </a:xfrm>
            <a:custGeom>
              <a:rect b="b" l="l" r="r" t="t"/>
              <a:pathLst>
                <a:path extrusionOk="0" h="52327" w="52484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7" name="Google Shape;57;p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8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65" name="Google Shape;65;p8"/>
            <p:cNvPicPr preferRelativeResize="0"/>
            <p:nvPr/>
          </p:nvPicPr>
          <p:blipFill rotWithShape="1">
            <a:blip r:embed="rId1">
              <a:alphaModFix/>
            </a:blip>
            <a:srcRect b="13674" l="1389" r="75083" t="26408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8"/>
            <p:cNvPicPr preferRelativeResize="0"/>
            <p:nvPr/>
          </p:nvPicPr>
          <p:blipFill rotWithShape="1">
            <a:blip r:embed="rId2">
              <a:alphaModFix/>
            </a:blip>
            <a:srcRect b="4309" l="21159" r="32617" t="55236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p8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68" name="Google Shape;68;p8"/>
            <p:cNvPicPr preferRelativeResize="0"/>
            <p:nvPr/>
          </p:nvPicPr>
          <p:blipFill rotWithShape="1">
            <a:blip r:embed="rId2">
              <a:alphaModFix/>
            </a:blip>
            <a:srcRect b="65672" l="36932" r="19789" t="-9160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 rotWithShape="1">
            <a:blip r:embed="rId1">
              <a:alphaModFix/>
            </a:blip>
            <a:srcRect b="5729" l="-4381" r="80498" t="29604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/>
          <p:nvPr/>
        </p:nvSpPr>
        <p:spPr>
          <a:xfrm>
            <a:off x="810720" y="-1889640"/>
            <a:ext cx="2429280" cy="2428920"/>
          </a:xfrm>
          <a:custGeom>
            <a:rect b="b" l="l" r="r" t="t"/>
            <a:pathLst>
              <a:path extrusionOk="0" h="97166" w="97192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360640" y="4321440"/>
            <a:ext cx="550440" cy="564480"/>
          </a:xfrm>
          <a:custGeom>
            <a:rect b="b" l="l" r="r" t="t"/>
            <a:pathLst>
              <a:path extrusionOk="0" h="44235" w="431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" name="Google Shape;72;p8"/>
          <p:cNvSpPr txBox="1"/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8"/>
          <p:cNvSpPr txBox="1"/>
          <p:nvPr>
            <p:ph idx="1"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cap="flat" cmpd="sng" w="1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hyperlink" Target="http://total.py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5" Type="http://schemas.openxmlformats.org/officeDocument/2006/relationships/image" Target="../media/image7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assfrdz.github.io/portfolio-assia-ferradj-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4094111" y="3086953"/>
            <a:ext cx="955768" cy="216667"/>
          </a:xfrm>
          <a:custGeom>
            <a:rect b="b" l="l" r="r" t="t"/>
            <a:pathLst>
              <a:path extrusionOk="0" h="14026" w="61812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806040" y="672840"/>
            <a:ext cx="550440" cy="564480"/>
          </a:xfrm>
          <a:custGeom>
            <a:rect b="b" l="l" r="r" t="t"/>
            <a:pathLst>
              <a:path extrusionOk="0" h="44235" w="431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3" name="Google Shape;83;p10"/>
          <p:cNvGrpSpPr/>
          <p:nvPr/>
        </p:nvGrpSpPr>
        <p:grpSpPr>
          <a:xfrm>
            <a:off x="7343750" y="3176450"/>
            <a:ext cx="1159920" cy="793440"/>
            <a:chOff x="7335000" y="3639600"/>
            <a:chExt cx="1159920" cy="793440"/>
          </a:xfrm>
        </p:grpSpPr>
        <p:cxnSp>
          <p:nvCxnSpPr>
            <p:cNvPr id="84" name="Google Shape;84;p10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noFill/>
            <a:ln cap="flat" cmpd="sng" w="38100">
              <a:solidFill>
                <a:srgbClr val="7E4FC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0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noFill/>
            <a:ln cap="flat" cmpd="sng" w="38100">
              <a:solidFill>
                <a:srgbClr val="7E4FC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0"/>
            <p:cNvCxnSpPr/>
            <p:nvPr/>
          </p:nvCxnSpPr>
          <p:spPr>
            <a:xfrm flipH="1" rot="10800000">
              <a:off x="7350480" y="3639600"/>
              <a:ext cx="417240" cy="118800"/>
            </a:xfrm>
            <a:prstGeom prst="straightConnector1">
              <a:avLst/>
            </a:prstGeom>
            <a:noFill/>
            <a:ln cap="flat" cmpd="sng" w="38100">
              <a:solidFill>
                <a:srgbClr val="7E4FC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7" name="Google Shape;87;p10"/>
          <p:cNvSpPr/>
          <p:nvPr/>
        </p:nvSpPr>
        <p:spPr>
          <a:xfrm>
            <a:off x="825900" y="951925"/>
            <a:ext cx="74922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>
                <a:solidFill>
                  <a:srgbClr val="FFFFFF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Stabilisation des workflows documentaires de la librairie Marmote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2243905" y="3586190"/>
            <a:ext cx="4524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Assia FERRADJ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4240150" y="4527546"/>
            <a:ext cx="4524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Encadré par Mr Emmanuel HYON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0" name="Google Shape;90;p10" title="images.png"/>
          <p:cNvPicPr preferRelativeResize="0"/>
          <p:nvPr/>
        </p:nvPicPr>
        <p:blipFill rotWithShape="1">
          <a:blip r:embed="rId3">
            <a:alphaModFix/>
          </a:blip>
          <a:srcRect b="26569" l="0" r="0" t="24029"/>
          <a:stretch/>
        </p:blipFill>
        <p:spPr>
          <a:xfrm>
            <a:off x="338900" y="4269250"/>
            <a:ext cx="1905000" cy="61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714240" y="885960"/>
            <a:ext cx="4161960" cy="371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48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Sommaire</a:t>
            </a:r>
            <a:endParaRPr b="0" i="0" sz="2248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800850" y="1598425"/>
            <a:ext cx="60270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Contexte et Problématique</a:t>
            </a:r>
            <a:endParaRPr sz="2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Workflow initial et final</a:t>
            </a:r>
            <a:endParaRPr sz="2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Organisation et Environnement de travail</a:t>
            </a:r>
            <a:endParaRPr sz="2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Missions réalisées </a:t>
            </a:r>
            <a:endParaRPr sz="2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Difficultés et solutions apportées</a:t>
            </a:r>
            <a:endParaRPr sz="2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674" y="1067113"/>
            <a:ext cx="3538325" cy="239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2"/>
          <p:cNvSpPr/>
          <p:nvPr/>
        </p:nvSpPr>
        <p:spPr>
          <a:xfrm>
            <a:off x="463700" y="484575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Site de la documentation de la librairie Marmote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391850" y="3682775"/>
            <a:ext cx="4163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MARMOTE = MARkovian MOdelling Tools and Environments</a:t>
            </a:r>
            <a:endParaRPr b="1" sz="1200"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07" name="Google Shape;107;p12" title="21648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775" y="1131187"/>
            <a:ext cx="1118600" cy="11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2" title="ISO_C++_Logo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9402" y="1141350"/>
            <a:ext cx="985052" cy="1108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2" title="Python-logo-notext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8600" y="2393037"/>
            <a:ext cx="924238" cy="924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/>
          <p:nvPr/>
        </p:nvSpPr>
        <p:spPr>
          <a:xfrm>
            <a:off x="4743350" y="3682775"/>
            <a:ext cx="4163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Sources = notebooks python, fichiers de sortie C++ res, cmd</a:t>
            </a:r>
            <a:endParaRPr b="1" sz="1200"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391850" y="4077050"/>
            <a:ext cx="80490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Comment produire des notebooks C++ génériques, fiables et compatibles avec Sphinx ?</a:t>
            </a:r>
            <a:endParaRPr b="1" sz="2100"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12" name="Google Shape;112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6326" y="2374052"/>
            <a:ext cx="985050" cy="985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Workflow initial et final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481025" y="1053100"/>
            <a:ext cx="10056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u="sng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Entrée</a:t>
            </a:r>
            <a:endParaRPr sz="1700" u="sng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3974875" y="1053100"/>
            <a:ext cx="1464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u="sng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Traitement</a:t>
            </a:r>
            <a:endParaRPr sz="1700" u="sng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927125" y="1053100"/>
            <a:ext cx="1464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u="sng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Sortie</a:t>
            </a:r>
            <a:endParaRPr sz="1700" u="sng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340750" y="1544863"/>
            <a:ext cx="8183700" cy="1803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Itinitial</a:t>
            </a:r>
            <a:endParaRPr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340750" y="3341575"/>
            <a:ext cx="8183700" cy="1598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Final</a:t>
            </a:r>
            <a:endParaRPr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1481025" y="1801125"/>
            <a:ext cx="869700" cy="28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xpl/build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481025" y="2428800"/>
            <a:ext cx="869700" cy="28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pytutos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1481025" y="3605000"/>
            <a:ext cx="869700" cy="28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pytutos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481025" y="4154400"/>
            <a:ext cx="869700" cy="28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cpptutos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3703450" y="1955900"/>
            <a:ext cx="1906800" cy="28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doc_copyExamples.py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3703450" y="2506350"/>
            <a:ext cx="2101500" cy="28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doc_generateArchive.py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253050" y="3997975"/>
            <a:ext cx="807600" cy="28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total.py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6389100" y="3564875"/>
            <a:ext cx="1727400" cy="28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Paquets d’exemples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6389100" y="3971400"/>
            <a:ext cx="17274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Paquets notebooks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6630750" y="1747275"/>
            <a:ext cx="1634700" cy="68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Ressources de documentation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7269425" y="3170025"/>
            <a:ext cx="1634700" cy="28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Documentation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6538050" y="2602650"/>
            <a:ext cx="1727400" cy="39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Paquets notebooks</a:t>
            </a: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136" name="Google Shape;136;p13"/>
          <p:cNvCxnSpPr>
            <a:stCxn id="124" idx="3"/>
            <a:endCxn id="128" idx="1"/>
          </p:cNvCxnSpPr>
          <p:nvPr/>
        </p:nvCxnSpPr>
        <p:spPr>
          <a:xfrm>
            <a:off x="2350725" y="1944075"/>
            <a:ext cx="1352700" cy="154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/>
          <p:cNvCxnSpPr>
            <a:stCxn id="125" idx="3"/>
            <a:endCxn id="129" idx="1"/>
          </p:cNvCxnSpPr>
          <p:nvPr/>
        </p:nvCxnSpPr>
        <p:spPr>
          <a:xfrm>
            <a:off x="2350725" y="2571750"/>
            <a:ext cx="1352700" cy="777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/>
          <p:cNvCxnSpPr>
            <a:stCxn id="126" idx="3"/>
            <a:endCxn id="130" idx="1"/>
          </p:cNvCxnSpPr>
          <p:nvPr/>
        </p:nvCxnSpPr>
        <p:spPr>
          <a:xfrm>
            <a:off x="2350725" y="3747950"/>
            <a:ext cx="1902300" cy="3930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3"/>
          <p:cNvCxnSpPr>
            <a:stCxn id="127" idx="3"/>
            <a:endCxn id="130" idx="1"/>
          </p:cNvCxnSpPr>
          <p:nvPr/>
        </p:nvCxnSpPr>
        <p:spPr>
          <a:xfrm flipH="1" rot="10800000">
            <a:off x="2350725" y="4141050"/>
            <a:ext cx="1902300" cy="1563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3"/>
          <p:cNvCxnSpPr>
            <a:stCxn id="124" idx="3"/>
            <a:endCxn id="129" idx="1"/>
          </p:cNvCxnSpPr>
          <p:nvPr/>
        </p:nvCxnSpPr>
        <p:spPr>
          <a:xfrm>
            <a:off x="2350725" y="1944075"/>
            <a:ext cx="1352700" cy="7053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3"/>
          <p:cNvCxnSpPr>
            <a:stCxn id="130" idx="3"/>
            <a:endCxn id="131" idx="1"/>
          </p:cNvCxnSpPr>
          <p:nvPr/>
        </p:nvCxnSpPr>
        <p:spPr>
          <a:xfrm flipH="1" rot="10800000">
            <a:off x="5060650" y="3707725"/>
            <a:ext cx="1328400" cy="4332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3"/>
          <p:cNvCxnSpPr>
            <a:stCxn id="130" idx="3"/>
            <a:endCxn id="132" idx="1"/>
          </p:cNvCxnSpPr>
          <p:nvPr/>
        </p:nvCxnSpPr>
        <p:spPr>
          <a:xfrm>
            <a:off x="5060650" y="4140925"/>
            <a:ext cx="1328400" cy="273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3"/>
          <p:cNvCxnSpPr>
            <a:stCxn id="129" idx="3"/>
            <a:endCxn id="135" idx="1"/>
          </p:cNvCxnSpPr>
          <p:nvPr/>
        </p:nvCxnSpPr>
        <p:spPr>
          <a:xfrm>
            <a:off x="5804950" y="2649300"/>
            <a:ext cx="733200" cy="1503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3"/>
          <p:cNvCxnSpPr>
            <a:stCxn id="129" idx="3"/>
            <a:endCxn id="133" idx="1"/>
          </p:cNvCxnSpPr>
          <p:nvPr/>
        </p:nvCxnSpPr>
        <p:spPr>
          <a:xfrm flipH="1" rot="10800000">
            <a:off x="5804950" y="2088000"/>
            <a:ext cx="825900" cy="5613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3"/>
          <p:cNvCxnSpPr>
            <a:stCxn id="128" idx="3"/>
            <a:endCxn id="133" idx="1"/>
          </p:cNvCxnSpPr>
          <p:nvPr/>
        </p:nvCxnSpPr>
        <p:spPr>
          <a:xfrm flipH="1" rot="10800000">
            <a:off x="5610250" y="2088050"/>
            <a:ext cx="1020600" cy="108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486450" y="282325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Organisation et environnement de travail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3414218" y="711475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Environnement de travail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3410153" y="1561976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Environnements Conda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2564913" y="246167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Windows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4255406" y="246167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WSL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56" name="Google Shape;156;p14"/>
          <p:cNvCxnSpPr>
            <a:stCxn id="152" idx="2"/>
            <a:endCxn id="153" idx="0"/>
          </p:cNvCxnSpPr>
          <p:nvPr/>
        </p:nvCxnSpPr>
        <p:spPr>
          <a:xfrm rot="5400000">
            <a:off x="3977168" y="1355875"/>
            <a:ext cx="408000" cy="4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4"/>
          <p:cNvCxnSpPr>
            <a:stCxn id="153" idx="2"/>
            <a:endCxn id="155" idx="0"/>
          </p:cNvCxnSpPr>
          <p:nvPr/>
        </p:nvCxnSpPr>
        <p:spPr>
          <a:xfrm flipH="1" rot="-5400000">
            <a:off x="4373303" y="1810376"/>
            <a:ext cx="4572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4"/>
          <p:cNvCxnSpPr>
            <a:stCxn id="154" idx="0"/>
            <a:endCxn id="153" idx="2"/>
          </p:cNvCxnSpPr>
          <p:nvPr/>
        </p:nvCxnSpPr>
        <p:spPr>
          <a:xfrm rot="-5400000">
            <a:off x="3527913" y="1810528"/>
            <a:ext cx="457200" cy="8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4"/>
          <p:cNvSpPr/>
          <p:nvPr/>
        </p:nvSpPr>
        <p:spPr>
          <a:xfrm>
            <a:off x="2252913" y="323592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marmote-use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5713813" y="323592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xeus-cpp</a:t>
            </a: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-env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4064238" y="3235928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marmote</a:t>
            </a: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-env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62" name="Google Shape;162;p14"/>
          <p:cNvCxnSpPr>
            <a:stCxn id="155" idx="2"/>
            <a:endCxn id="160" idx="0"/>
          </p:cNvCxnSpPr>
          <p:nvPr/>
        </p:nvCxnSpPr>
        <p:spPr>
          <a:xfrm flipH="1" rot="-5400000">
            <a:off x="5587706" y="2340928"/>
            <a:ext cx="331800" cy="14583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4"/>
          <p:cNvCxnSpPr>
            <a:stCxn id="155" idx="2"/>
            <a:endCxn id="161" idx="0"/>
          </p:cNvCxnSpPr>
          <p:nvPr/>
        </p:nvCxnSpPr>
        <p:spPr>
          <a:xfrm rot="5400000">
            <a:off x="4763006" y="2974528"/>
            <a:ext cx="331800" cy="1911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4"/>
          <p:cNvCxnSpPr>
            <a:stCxn id="154" idx="2"/>
            <a:endCxn id="159" idx="0"/>
          </p:cNvCxnSpPr>
          <p:nvPr/>
        </p:nvCxnSpPr>
        <p:spPr>
          <a:xfrm rot="5400000">
            <a:off x="3012063" y="2914078"/>
            <a:ext cx="331800" cy="3120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4"/>
          <p:cNvSpPr/>
          <p:nvPr/>
        </p:nvSpPr>
        <p:spPr>
          <a:xfrm>
            <a:off x="772288" y="43073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Sphinx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2458888" y="43073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Marmote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4598838" y="43073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jupyter notebook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6836663" y="4307350"/>
            <a:ext cx="687900" cy="442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xeus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69" name="Google Shape;169;p14"/>
          <p:cNvCxnSpPr>
            <a:stCxn id="160" idx="2"/>
            <a:endCxn id="168" idx="0"/>
          </p:cNvCxnSpPr>
          <p:nvPr/>
        </p:nvCxnSpPr>
        <p:spPr>
          <a:xfrm flipH="1" rot="-5400000">
            <a:off x="6517363" y="3643928"/>
            <a:ext cx="628800" cy="6978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4"/>
          <p:cNvCxnSpPr>
            <a:stCxn id="160" idx="2"/>
            <a:endCxn id="167" idx="0"/>
          </p:cNvCxnSpPr>
          <p:nvPr/>
        </p:nvCxnSpPr>
        <p:spPr>
          <a:xfrm rot="5400000">
            <a:off x="5610913" y="3435278"/>
            <a:ext cx="628800" cy="11151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4"/>
          <p:cNvCxnSpPr>
            <a:stCxn id="159" idx="2"/>
            <a:endCxn id="166" idx="0"/>
          </p:cNvCxnSpPr>
          <p:nvPr/>
        </p:nvCxnSpPr>
        <p:spPr>
          <a:xfrm flipH="1" rot="-5400000">
            <a:off x="2810613" y="3889778"/>
            <a:ext cx="628800" cy="2061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4"/>
          <p:cNvCxnSpPr>
            <a:stCxn id="159" idx="2"/>
            <a:endCxn id="165" idx="0"/>
          </p:cNvCxnSpPr>
          <p:nvPr/>
        </p:nvCxnSpPr>
        <p:spPr>
          <a:xfrm rot="5400000">
            <a:off x="1967313" y="3252578"/>
            <a:ext cx="628800" cy="14805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4"/>
          <p:cNvCxnSpPr>
            <a:stCxn id="159" idx="2"/>
            <a:endCxn id="167" idx="0"/>
          </p:cNvCxnSpPr>
          <p:nvPr/>
        </p:nvCxnSpPr>
        <p:spPr>
          <a:xfrm flipH="1" rot="-5400000">
            <a:off x="3880563" y="2819828"/>
            <a:ext cx="628800" cy="23460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4"/>
          <p:cNvCxnSpPr>
            <a:stCxn id="161" idx="2"/>
            <a:endCxn id="166" idx="0"/>
          </p:cNvCxnSpPr>
          <p:nvPr/>
        </p:nvCxnSpPr>
        <p:spPr>
          <a:xfrm rot="5400000">
            <a:off x="3716238" y="3190178"/>
            <a:ext cx="628800" cy="16053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619350" y="395075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Missions réalisées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06975" y="844575"/>
            <a:ext cx="7959600" cy="594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2323475" y="986045"/>
            <a:ext cx="413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Compréhension des scripts, commentaires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577425" y="1535350"/>
            <a:ext cx="3167400" cy="2101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3887400" y="1535350"/>
            <a:ext cx="4654500" cy="2101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06975" y="3733025"/>
            <a:ext cx="7959600" cy="855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6" name="Google Shape;186;p15" title="Quotes-Mark-Symbol-PNG-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000" y="872957"/>
            <a:ext cx="874450" cy="5460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7" name="Google Shape;187;p15" title="96698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5500" y="965208"/>
            <a:ext cx="361500" cy="361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8" name="Google Shape;188;p15"/>
          <p:cNvSpPr/>
          <p:nvPr/>
        </p:nvSpPr>
        <p:spPr>
          <a:xfrm>
            <a:off x="606975" y="1577025"/>
            <a:ext cx="31377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Reconstruction</a:t>
            </a:r>
            <a:r>
              <a:rPr lang="fr" sz="16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de l’arborescence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89" name="Google Shape;1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8635" y="1912948"/>
            <a:ext cx="1492775" cy="1586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0" name="Google Shape;190;p15"/>
          <p:cNvSpPr/>
          <p:nvPr/>
        </p:nvSpPr>
        <p:spPr>
          <a:xfrm>
            <a:off x="3988350" y="1669425"/>
            <a:ext cx="31377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Sécurisation des scripts et ajouts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077175" y="1912950"/>
            <a:ext cx="40314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40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Dry run</a:t>
            </a:r>
            <a:endParaRPr sz="1940"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4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Simuler l’exécution du script</a:t>
            </a:r>
            <a:endParaRPr sz="144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40">
                <a:solidFill>
                  <a:schemeClr val="lt2"/>
                </a:solidFill>
                <a:latin typeface="Unbounded"/>
                <a:ea typeface="Unbounded"/>
                <a:cs typeface="Unbounded"/>
                <a:sym typeface="Unbounded"/>
              </a:rPr>
              <a:t>List_and_test(dir)</a:t>
            </a:r>
            <a:endParaRPr sz="1940">
              <a:solidFill>
                <a:schemeClr val="lt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4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Regarder si une destination existe</a:t>
            </a:r>
            <a:endParaRPr sz="11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4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Stay_or_change_directory</a:t>
            </a:r>
            <a:endParaRPr sz="1940">
              <a:solidFill>
                <a:schemeClr val="accent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4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Rediriger vers le bon dossier d’exécution : source</a:t>
            </a:r>
            <a:endParaRPr sz="194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3086450" y="3973625"/>
            <a:ext cx="1619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Installation xeus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193" name="Google Shape;193;p15" title="1__77MmwnTvIhdFVM8noFAI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8075" y="3845206"/>
            <a:ext cx="874450" cy="524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15"/>
          <p:cNvCxnSpPr>
            <a:stCxn id="192" idx="3"/>
          </p:cNvCxnSpPr>
          <p:nvPr/>
        </p:nvCxnSpPr>
        <p:spPr>
          <a:xfrm flipH="1" rot="10800000">
            <a:off x="4705550" y="3997475"/>
            <a:ext cx="976800" cy="15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5"/>
          <p:cNvSpPr/>
          <p:nvPr/>
        </p:nvSpPr>
        <p:spPr>
          <a:xfrm>
            <a:off x="5746300" y="3824350"/>
            <a:ext cx="838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Python ?</a:t>
            </a:r>
            <a:endParaRPr sz="13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5746300" y="4017275"/>
            <a:ext cx="838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Cling </a:t>
            </a:r>
            <a:r>
              <a:rPr lang="fr" sz="13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?</a:t>
            </a:r>
            <a:endParaRPr sz="13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5746300" y="4238625"/>
            <a:ext cx="838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Zmq </a:t>
            </a:r>
            <a:r>
              <a:rPr lang="fr" sz="13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? …</a:t>
            </a:r>
            <a:endParaRPr sz="13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198" name="Google Shape;198;p15"/>
          <p:cNvCxnSpPr>
            <a:stCxn id="192" idx="3"/>
            <a:endCxn id="197" idx="1"/>
          </p:cNvCxnSpPr>
          <p:nvPr/>
        </p:nvCxnSpPr>
        <p:spPr>
          <a:xfrm>
            <a:off x="4705550" y="4154375"/>
            <a:ext cx="1040700" cy="2277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5"/>
          <p:cNvCxnSpPr>
            <a:stCxn id="192" idx="3"/>
            <a:endCxn id="196" idx="1"/>
          </p:cNvCxnSpPr>
          <p:nvPr/>
        </p:nvCxnSpPr>
        <p:spPr>
          <a:xfrm>
            <a:off x="4705550" y="4154375"/>
            <a:ext cx="1040700" cy="6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15"/>
          <p:cNvSpPr txBox="1"/>
          <p:nvPr/>
        </p:nvSpPr>
        <p:spPr>
          <a:xfrm>
            <a:off x="6813950" y="3949025"/>
            <a:ext cx="3615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40">
                <a:solidFill>
                  <a:schemeClr val="lt2"/>
                </a:solidFill>
                <a:latin typeface="Unbounded"/>
                <a:ea typeface="Unbounded"/>
                <a:cs typeface="Unbounded"/>
                <a:sym typeface="Unbounded"/>
              </a:rPr>
              <a:t>?</a:t>
            </a:r>
            <a:endParaRPr sz="1940">
              <a:solidFill>
                <a:schemeClr val="lt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8539396" y="44837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601813" y="353075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Créer des notebooks en C++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89438" y="802575"/>
            <a:ext cx="3965100" cy="1503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4681713" y="802575"/>
            <a:ext cx="3965100" cy="1503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589438" y="2393575"/>
            <a:ext cx="3965100" cy="1503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0" name="Google Shape;210;p16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311" y="1144424"/>
            <a:ext cx="819300" cy="8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/>
          <p:nvPr/>
        </p:nvSpPr>
        <p:spPr>
          <a:xfrm>
            <a:off x="4694088" y="2393575"/>
            <a:ext cx="3965100" cy="1503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601813" y="3984575"/>
            <a:ext cx="8057400" cy="780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738938" y="1020825"/>
            <a:ext cx="30546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Création d’un environnement xeus-cpp-env dans conda sur WSL, avec Xeus, Jupyter, Marmote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5385713" y="1169525"/>
            <a:ext cx="30546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Lancement  de jupyter + création notebook C++ 17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738938" y="2611825"/>
            <a:ext cx="30546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Test avec les exemples Marmote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Ajout de cellules pragma avec chemin vers Marmote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16" name="Google Shape;216;p16" title="2732962-2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113" y="2611825"/>
            <a:ext cx="1066500" cy="10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1913" y="1148513"/>
            <a:ext cx="699626" cy="8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/>
          <p:nvPr/>
        </p:nvSpPr>
        <p:spPr>
          <a:xfrm>
            <a:off x="5385713" y="2738175"/>
            <a:ext cx="30546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Sortie des cellules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19" name="Google Shape;219;p16"/>
          <p:cNvPicPr preferRelativeResize="0"/>
          <p:nvPr/>
        </p:nvPicPr>
        <p:blipFill rotWithShape="1">
          <a:blip r:embed="rId6">
            <a:alphaModFix/>
          </a:blip>
          <a:srcRect b="54244" l="0" r="43557" t="0"/>
          <a:stretch/>
        </p:blipFill>
        <p:spPr>
          <a:xfrm>
            <a:off x="5037563" y="2521937"/>
            <a:ext cx="1745336" cy="12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6"/>
          <p:cNvSpPr/>
          <p:nvPr/>
        </p:nvSpPr>
        <p:spPr>
          <a:xfrm>
            <a:off x="4185763" y="1988819"/>
            <a:ext cx="889500" cy="819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Tag hidden 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898946" y="3921075"/>
            <a:ext cx="7420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Alternatives : cppyy et jupyter-cpp-kernel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55913" y="4202825"/>
            <a:ext cx="30546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Actor"/>
                <a:ea typeface="Actor"/>
                <a:cs typeface="Actor"/>
                <a:sym typeface="Actor"/>
              </a:rPr>
              <a:t>cppyy -&gt; pas de kernel réellement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4113513" y="4399058"/>
            <a:ext cx="4533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Actor"/>
                <a:ea typeface="Actor"/>
                <a:cs typeface="Actor"/>
                <a:sym typeface="Actor"/>
              </a:rPr>
              <a:t>jupyter-cpp-kernel -&gt; utilise un Mingwe trop ancien pour Marmote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idx="12" type="sldNum"/>
          </p:nvPr>
        </p:nvSpPr>
        <p:spPr>
          <a:xfrm>
            <a:off x="8539396" y="44837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601813" y="353075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Autres missions réalisées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589450" y="802575"/>
            <a:ext cx="3965100" cy="176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786075" y="802575"/>
            <a:ext cx="3965100" cy="176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589450" y="2922425"/>
            <a:ext cx="3965100" cy="176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4786075" y="2922425"/>
            <a:ext cx="3965100" cy="1769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739003" y="3273725"/>
            <a:ext cx="36660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Conversion en fichier C++</a:t>
            </a:r>
            <a:endParaRPr b="1"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Fonction creating_cppFiles pour convertir les notebooks grâce à Nb convert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4935628" y="3086575"/>
            <a:ext cx="36660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Patch Conda Colab</a:t>
            </a:r>
            <a:endParaRPr b="1"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Cellule de vérification installation marmote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36" name="Google Shape;236;p17" title="codex-color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967825" y="968538"/>
            <a:ext cx="1437174" cy="14371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739000" y="1020825"/>
            <a:ext cx="37443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Prompt Codex </a:t>
            </a:r>
            <a:endParaRPr b="1"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Assurer une haute fidélité dans la traduction des exemples C++, en reprenant le modèle des exemples Python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38" name="Google Shape;238;p17" title="711284.png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145175" y="1116400"/>
            <a:ext cx="1156250" cy="11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/>
          <p:nvPr/>
        </p:nvSpPr>
        <p:spPr>
          <a:xfrm>
            <a:off x="4935628" y="1020825"/>
            <a:ext cx="36660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Script </a:t>
            </a:r>
            <a:r>
              <a:rPr b="1" lang="fr" sz="15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total.py</a:t>
            </a:r>
            <a:r>
              <a:rPr b="1"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b="1"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Reprend le main de chacun des scripts et mutualise certaines fonctions </a:t>
            </a:r>
            <a:endParaRPr sz="15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40" name="Google Shape;240;p17" title="14389825.png"/>
          <p:cNvPicPr preferRelativeResize="0"/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3108288" y="3228839"/>
            <a:ext cx="1156250" cy="1156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 title="images.png"/>
          <p:cNvPicPr preferRelativeResize="0"/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4951621" y="3770650"/>
            <a:ext cx="2900675" cy="7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619200" y="619200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Difficultés rencontrées et solutions apportées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7" name="Google Shape;24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48" name="Google Shape;248;p18" title="82040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25" y="1622950"/>
            <a:ext cx="657000" cy="6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/>
          <p:nvPr/>
        </p:nvSpPr>
        <p:spPr>
          <a:xfrm>
            <a:off x="1493675" y="1622950"/>
            <a:ext cx="4132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Arborescence initiale incohérente avec les scripts</a:t>
            </a:r>
            <a:endParaRPr sz="1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highlight>
                  <a:schemeClr val="lt1"/>
                </a:highlight>
                <a:latin typeface="Actor"/>
                <a:ea typeface="Actor"/>
                <a:cs typeface="Actor"/>
                <a:sym typeface="Actor"/>
              </a:rPr>
              <a:t>Analyse des scripts et reconstruction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50" name="Google Shape;250;p18" title="Windows_Subsystem_for_Linux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1025" y="2872675"/>
            <a:ext cx="196450" cy="19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/>
          <p:nvPr/>
        </p:nvSpPr>
        <p:spPr>
          <a:xfrm>
            <a:off x="1587300" y="2536763"/>
            <a:ext cx="2637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Xeus indisponible sur Windows</a:t>
            </a:r>
            <a:endParaRPr sz="1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highlight>
                  <a:schemeClr val="lt1"/>
                </a:highlight>
                <a:latin typeface="Actor"/>
                <a:ea typeface="Actor"/>
                <a:cs typeface="Actor"/>
                <a:sym typeface="Actor"/>
              </a:rPr>
              <a:t>Passer par le WSL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52" name="Google Shape;252;p18" title="1__77MmwnTvIhdFVM8noFAI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200" y="2645075"/>
            <a:ext cx="9145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 title="Update-Button-PNG-Ima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3013" y="3450575"/>
            <a:ext cx="1635775" cy="5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3212700" y="3450575"/>
            <a:ext cx="38304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Ambiguïtés entre les versions Marmote</a:t>
            </a:r>
            <a:endParaRPr sz="1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highlight>
                  <a:schemeClr val="lt1"/>
                </a:highlight>
                <a:latin typeface="Actor"/>
                <a:ea typeface="Actor"/>
                <a:cs typeface="Actor"/>
                <a:sym typeface="Actor"/>
              </a:rPr>
              <a:t>Prompt Codex pour corriger les fonctions obsolètes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276000" y="2592300"/>
            <a:ext cx="337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Problème dans CMake avec find_package 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highlight>
                  <a:schemeClr val="lt1"/>
                </a:highlight>
                <a:latin typeface="Actor"/>
                <a:ea typeface="Actor"/>
                <a:cs typeface="Actor"/>
                <a:sym typeface="Actor"/>
              </a:rPr>
              <a:t>Préciser la localisation du cmake de marmote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256" name="Google Shape;256;p18" title="free-cmake-logo-icon-svg-download-png-302991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4200" y="2536775"/>
            <a:ext cx="657000" cy="6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8" title="ISO_C++_Logo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45650" y="1622954"/>
            <a:ext cx="657002" cy="73930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/>
          <p:nvPr/>
        </p:nvSpPr>
        <p:spPr>
          <a:xfrm>
            <a:off x="6162600" y="1622950"/>
            <a:ext cx="2981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Kernel cassé</a:t>
            </a:r>
            <a:endParaRPr sz="1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highlight>
                  <a:schemeClr val="lt1"/>
                </a:highlight>
                <a:latin typeface="Actor"/>
                <a:ea typeface="Actor"/>
                <a:cs typeface="Actor"/>
                <a:sym typeface="Actor"/>
              </a:rPr>
              <a:t>Interrompre et redémarrer le kernel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4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Conclusion</a:t>
            </a:r>
            <a:endParaRPr b="0" sz="204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4" name="Google Shape;26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435175" y="2178150"/>
            <a:ext cx="2223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Montée en compétence en C++ 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5889500" y="2178150"/>
            <a:ext cx="2223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Autonomie &amp; raisonnement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759875" y="4356250"/>
            <a:ext cx="35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Maîtrise d’un environnement technique complet 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5214200" y="4356250"/>
            <a:ext cx="357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Actor"/>
                <a:ea typeface="Actor"/>
                <a:cs typeface="Actor"/>
                <a:sym typeface="Actor"/>
              </a:rPr>
              <a:t>Alignement avec mon projet professionnel 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4296790" y="2571740"/>
            <a:ext cx="550403" cy="564439"/>
          </a:xfrm>
          <a:custGeom>
            <a:rect b="b" l="l" r="r" t="t"/>
            <a:pathLst>
              <a:path extrusionOk="0" h="44235" w="431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70" name="Google Shape;270;p19" title="ISO_C++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127" y="1055539"/>
            <a:ext cx="931098" cy="104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9" title="86554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025" y="536000"/>
            <a:ext cx="1460275" cy="14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4725" y="3390075"/>
            <a:ext cx="699626" cy="8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2748" y="3445821"/>
            <a:ext cx="699624" cy="699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7925" y="3471102"/>
            <a:ext cx="649099" cy="64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 title="cmak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5050" y="3471100"/>
            <a:ext cx="649100" cy="6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 title="pngtree-developers-are-coding-programs-on-computers-programmers-are-analyzing-data-png-image_1190265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82175" y="2864650"/>
            <a:ext cx="1399675" cy="13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/>
          <p:nvPr>
            <p:ph type="title"/>
          </p:nvPr>
        </p:nvSpPr>
        <p:spPr>
          <a:xfrm>
            <a:off x="1228680" y="542520"/>
            <a:ext cx="669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Unbounded"/>
              <a:buNone/>
            </a:pPr>
            <a:r>
              <a:rPr b="1" lang="fr" sz="50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Merci!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0"/>
          <p:cNvSpPr txBox="1"/>
          <p:nvPr>
            <p:ph idx="1" type="subTitle"/>
          </p:nvPr>
        </p:nvSpPr>
        <p:spPr>
          <a:xfrm>
            <a:off x="2352600" y="1571760"/>
            <a:ext cx="444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None/>
            </a:pPr>
            <a:r>
              <a:rPr lang="fr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assia.ferradj</a:t>
            </a:r>
            <a:r>
              <a:rPr b="0" i="0" lang="fr" sz="1400" u="none" cap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@</a:t>
            </a:r>
            <a:r>
              <a:rPr lang="fr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parisnanterre</a:t>
            </a:r>
            <a:r>
              <a:rPr b="0" i="0" lang="fr" sz="1400" u="none" cap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.</a:t>
            </a:r>
            <a:r>
              <a:rPr lang="fr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fr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None/>
            </a:pPr>
            <a:r>
              <a:rPr b="0" i="0" lang="fr" sz="1400" u="none" cap="none" strike="noStrik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+</a:t>
            </a:r>
            <a:r>
              <a:rPr lang="fr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33 7 49 45 78 43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None/>
            </a:pPr>
            <a:r>
              <a:rPr lang="fr" u="sng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3"/>
              </a:rPr>
              <a:t>assfrdz.github.io/portfolio-assia-ferradj-v2</a:t>
            </a:r>
            <a:endParaRPr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None/>
            </a:pPr>
            <a:r>
              <a:rPr lang="fr" u="sng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rPr>
              <a:t>https://www.linkedin.com/in/assia-ferradj-895758296/</a:t>
            </a:r>
            <a:endParaRPr u="sng">
              <a:solidFill>
                <a:schemeClr val="lt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grpSp>
        <p:nvGrpSpPr>
          <p:cNvPr id="283" name="Google Shape;283;p20"/>
          <p:cNvGrpSpPr/>
          <p:nvPr/>
        </p:nvGrpSpPr>
        <p:grpSpPr>
          <a:xfrm>
            <a:off x="7566840" y="3891240"/>
            <a:ext cx="1159920" cy="793440"/>
            <a:chOff x="7566840" y="3891240"/>
            <a:chExt cx="1159920" cy="793440"/>
          </a:xfrm>
        </p:grpSpPr>
        <p:cxnSp>
          <p:nvCxnSpPr>
            <p:cNvPr id="284" name="Google Shape;284;p20"/>
            <p:cNvCxnSpPr/>
            <p:nvPr/>
          </p:nvCxnSpPr>
          <p:spPr>
            <a:xfrm>
              <a:off x="7566840" y="4007520"/>
              <a:ext cx="1159920" cy="677160"/>
            </a:xfrm>
            <a:prstGeom prst="straightConnector1">
              <a:avLst/>
            </a:prstGeom>
            <a:noFill/>
            <a:ln cap="flat" cmpd="sng" w="38100">
              <a:solidFill>
                <a:srgbClr val="7E4FC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5" name="Google Shape;285;p20"/>
            <p:cNvCxnSpPr/>
            <p:nvPr/>
          </p:nvCxnSpPr>
          <p:spPr>
            <a:xfrm>
              <a:off x="7576560" y="4019040"/>
              <a:ext cx="115560" cy="394200"/>
            </a:xfrm>
            <a:prstGeom prst="straightConnector1">
              <a:avLst/>
            </a:prstGeom>
            <a:noFill/>
            <a:ln cap="flat" cmpd="sng" w="38100">
              <a:solidFill>
                <a:srgbClr val="7E4FC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20"/>
            <p:cNvCxnSpPr/>
            <p:nvPr/>
          </p:nvCxnSpPr>
          <p:spPr>
            <a:xfrm flipH="1" rot="10800000">
              <a:off x="7582320" y="3891240"/>
              <a:ext cx="417240" cy="118800"/>
            </a:xfrm>
            <a:prstGeom prst="straightConnector1">
              <a:avLst/>
            </a:prstGeom>
            <a:noFill/>
            <a:ln cap="flat" cmpd="sng" w="38100">
              <a:solidFill>
                <a:srgbClr val="7E4FC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7" name="Google Shape;28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